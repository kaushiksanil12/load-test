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AWS CLOUD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Calibri"/>
              </a:defRPr>
            </a:pPr>
            <a:r>
              <a:t>Application Performance</a:t>
            </a:r>
            <a:br/>
            <a:r>
              <a:t>Monitoring (APM)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deep dive into AWS Application Signals, X-Ray, CloudWatch RUM,</a:t>
            </a:r>
            <a:br/>
            <a:r>
              <a:t>and Synthetics — with a live microservices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754880"/>
            <a:ext cx="1645920" cy="411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OpenTelemetry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754880"/>
            <a:ext cx="1645920" cy="411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X-Ray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754880"/>
            <a:ext cx="1645920" cy="411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Application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754880"/>
            <a:ext cx="1645920" cy="41148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Why is debugging microservices so hard?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🏛️  Monolithic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One server, one log file.</a:t>
            </a:r>
            <a:br/>
            <a:r>
              <a:t>SSH in, grep the logs, find the bug.</a:t>
            </a:r>
            <a:br/>
            <a:r>
              <a:t>Simple and straightforward.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🕸️  Microservices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One request travels through 5-10 services.</a:t>
            </a:r>
            <a:br/>
            <a:r>
              <a:t>Which service failed?</a:t>
            </a:r>
            <a:br/>
            <a:r>
              <a:t>Was it the database? The network? A bug?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1A121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💡  The core challenge: How do you trace a single user's request across 10 different log files in 10 different containers?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02 —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The Three Pillars of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Calibri"/>
              </a:defRPr>
            </a:pPr>
            <a:r>
              <a:t>📊 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Numerical measurements</a:t>
            </a:r>
            <a:br/>
            <a:r>
              <a:t>over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657600"/>
            <a:ext cx="283464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CPU: 85%</a:t>
            </a:r>
            <a:br/>
            <a:r>
              <a:t>Latency: 200ms</a:t>
            </a:r>
            <a:br/>
            <a:r>
              <a:t>Error Rate: 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Tells you SOMETHING is wrong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3832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🔗  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full journey of a request</a:t>
            </a:r>
            <a:br/>
            <a:r>
              <a:t>across all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79" y="3657600"/>
            <a:ext cx="283464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3703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Order → Employee</a:t>
            </a:r>
            <a:br/>
            <a:r>
              <a:t>→ PostgreSQL</a:t>
            </a:r>
            <a:br/>
            <a:r>
              <a:t>→ 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Tells you WHERE it went wrong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3832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📝 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Detailed text records of</a:t>
            </a:r>
            <a:br/>
            <a:r>
              <a:t>what happened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657600"/>
            <a:ext cx="283464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703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ERROR: Connection</a:t>
            </a:r>
            <a:br/>
            <a:r>
              <a:t>to PostgreSQL</a:t>
            </a:r>
            <a:br/>
            <a:r>
              <a:t>refused at 10:45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Tells you WHY it went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03 — OPENTELEMETRY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What is OpenTelemetry?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 open-source, vendor-neutral standard for collecting telemetry data — supported by AWS, Azure, GCP, Datadog, and every major cloud provider.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alibri"/>
              </a:defRPr>
            </a:pPr>
            <a:r>
              <a:t>❌  Before 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Using Datadog? Install Datadog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Switch to New Relic? Rewrite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Switch to AWS? Rewrite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Completely vendor-locked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6032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✅  With OTel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Instrument once, send anywhere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Switch backends without code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Universal standard across the industry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Complete vendor freedom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04 — AUTO-INSTRUMENTATION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Zero-Code Instrumentation — The 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AWS Distro for OpenTelemetry (ADOT) automatically wraps your code — no application changes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18288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# Dockerfile — just two lines added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06B6D4"/>
                </a:solidFill>
                <a:latin typeface="Consolas"/>
              </a:defRPr>
            </a:pPr>
            <a:r>
              <a:t>RUN npm install @aws/aws-distro-opentelemetry-node-autoinstrumentation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CMD ["node", "--require",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   "@aws/aws-distro-opentelemetry-node-autoinstrumentation/register",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   "server.js"]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0A1A1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🎯  The --require flag loads the OTel agent BEFORE your app code runs.</a:t>
            </a:r>
            <a:br/>
            <a:r>
              <a:t>It automatically wraps every Express route, database query, and HTTP call — your routes stay completely untouched.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05 —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The CloudWatch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local proxy that receives telemetry from your services and forwards it to 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2011680" cy="8229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🟢  Your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377440"/>
            <a:ext cx="2011680" cy="8229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📡  CloudWatch Agent</a:t>
            </a:r>
            <a:br/>
            <a:r>
              <a:t>     Port 4316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77440"/>
            <a:ext cx="2011680" cy="82296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☁️  AWS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📦 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Batches 100s of API calls into a few bulk uploads.</a:t>
            </a:r>
            <a:br/>
            <a:r>
              <a:t>Saves bandwidth and reduces AWS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84048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⚙️ 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Extracts Application Signals metrics from raw</a:t>
            </a:r>
            <a:br/>
            <a:r>
              <a:t>traces before uploading to AWS.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84048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🛡️ 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Buffers data locally if AWS is unreachable.</a:t>
            </a:r>
            <a:br/>
            <a:r>
              <a:t>Your app never worries about monitoring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06 — DISTRIBUTED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How Distributed Tracing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7432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Trace ID: 1-abcd1234-efgh5678</a:t>
            </a:r>
            <a:br/>
            <a:br/>
            <a:r>
              <a:t>├── [NGINX] receives POST /api/orders                    (2ms)</a:t>
            </a:r>
            <a:br/>
            <a:r>
              <a:t>│   └── [Order Service] handles request                  (350ms)</a:t>
            </a:r>
            <a:br/>
            <a:r>
              <a:t>│       ├── [Employee Svc] GET /api/employees            (45ms)</a:t>
            </a:r>
            <a:br/>
            <a:r>
              <a:t>│       │   └── [PostgreSQL] SELECT * FROM employees     (12ms)</a:t>
            </a:r>
            <a:br/>
            <a:r>
              <a:t>│       ├── [Product Svc] GET /api/products              (38ms)</a:t>
            </a:r>
            <a:br/>
            <a:r>
              <a:t>│       ├── [PostgreSQL] INSERT INTO orders              (15ms)</a:t>
            </a:r>
            <a:br/>
            <a:r>
              <a:t>│       └── [Notification] POST /api/notifications       (200ms)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66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🔑  Every service adds a hidden 'traceparent' HTTP header. All spans sharing the same Trace ID are stitched together by AWS X-Ray — even across different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07 — CONTEXT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Trace Context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Step 1:  Request arrives at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Step 2:  NGINX forwards with hidden header: traceparent: 00-abcd1234-span01-01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Step 3:  Order Service reads the header — "I am part of Trace abcd1234"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Step 4:  Order Service calls Employee Service — OTel auto-injects the same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Step 5:  All services report spans independently. X-Ray matches by Trace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4572000" cy="25603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# Supported propagation formats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3B82F6"/>
                </a:solidFill>
                <a:latin typeface="Consolas"/>
              </a:defRPr>
            </a:pPr>
            <a:r>
              <a:t>OTEL_PROPAGATORS: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  xray          # AWS native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  tracecontext  # W3C standard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  b3            # Zipkin compat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  b3multi       # Zipkin multi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08 —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Trace Sampling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Not every request needs tracing. In production with millions of requests, tracing 100% would be extremely expensive.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45720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SAMPLER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87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always_on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358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Captures 100% of all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35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Dev /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39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traceidratio: 0.01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3872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Captures only 1% of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387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High-traffic Prod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69848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traceidratio: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41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Captures 100% (= always_on)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41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Debugging in Prod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8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445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onsolas"/>
              </a:defRPr>
            </a:pPr>
            <a:r>
              <a:t>parentbased_traceidratio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445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Respects parent's sampling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44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Cascading consistency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A17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Important: Metrics are ALWAYS captured at 100% regardless of sampling. Only trace spans are sampled.</a:t>
            </a:r>
            <a:br/>
            <a:r>
              <a:t>This is why you might see a spike on a graph but no correlated traces.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09 —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Trace Map vs Application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🗺️  Trace Map (Service Map)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Built from raw X-Ray trace spans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Shows every single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Developer debugging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Can get messy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"Which hop in the chain broke?"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474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📊  Application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Built from Application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Smart grouping of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Operations monitoring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Supports SLOs &amp; health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"Is my system healthy right now?"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10 — SERVICE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How AWS Identifies Separate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AWS doesn't care WHERE your code runs. It identifies services purely by a single label.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1645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# Each container gets a unique service name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OTEL_RESOURCE_ATTRIBUTES: service.name=boostr-employee-service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OTEL_RESOURCE_ATTRIBUTES: service.name=boostr-order-service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OTEL_RESOURCE_ATTRIBUTES: service.name=boostr-product-service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OTEL_RESOURCE_ATTRIBUTES: service.name=boostr-notification-service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🐳  Same EC2 (Docker Compose)</a:t>
            </a:r>
            <a:br/>
            <a:r>
              <a:t>4 containers on one server — AWS draws 4 separate nodes because each has a unique service.name.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480560"/>
            <a:ext cx="5120640" cy="1371600"/>
          </a:xfrm>
          <a:prstGeom prst="roundRect">
            <a:avLst/>
          </a:prstGeom>
          <a:solidFill>
            <a:srgbClr val="0A1A1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🌐  Different EC2 Instances</a:t>
            </a:r>
            <a:br/>
            <a:r>
              <a:t>The traceparent header in HTTP calls connects services across any network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11 — APPLICATION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Application Signals — The APM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0604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Standardized</a:t>
            </a:r>
            <a:br/>
            <a: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Auto-computes request count,</a:t>
            </a:r>
            <a:br/>
            <a:r>
              <a:t>availability, latency (p50/p75/p99),</a:t>
            </a:r>
            <a:br/>
            <a:r>
              <a:t>error &amp; fault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011680"/>
            <a:ext cx="260604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Service</a:t>
            </a:r>
            <a:br/>
            <a: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Auto-discovers API endpoints</a:t>
            </a:r>
            <a:br/>
            <a:r>
              <a:t>like GET /api/employees and</a:t>
            </a:r>
            <a:br/>
            <a:r>
              <a:t>creates individual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260604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Maps downstream services &amp;</a:t>
            </a:r>
            <a:br/>
            <a:r>
              <a:t>databases each service depends</a:t>
            </a:r>
            <a:br/>
            <a:r>
              <a:t>on, with health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011680"/>
            <a:ext cx="260604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0B981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SLO</a:t>
            </a:r>
            <a:br/>
            <a: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Business-level Service Level</a:t>
            </a:r>
            <a:br/>
            <a:r>
              <a:t>Objectives with error budget</a:t>
            </a:r>
            <a:br/>
            <a:r>
              <a:t>tracking and alerting.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OTEL_AWS_APPLICATION_SIGNALS_ENABLED: "true"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6B6D4"/>
                </a:solidFill>
                <a:latin typeface="Consolas"/>
              </a:defRPr>
            </a:pPr>
            <a:r>
              <a:t>OTEL_AWS_APPLICATION_SIGNALS_EXPORTER_ENDPOINT: http://cloudwatch-agent:4316/v1/metrics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12 — SLOs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Calibri"/>
              </a:defRPr>
            </a:pPr>
            <a:r>
              <a:t>Service Level Objectives &amp; Error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📐  The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SLO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95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99.90% availability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5029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Time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98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502920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Total Requests/Day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01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5029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Error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0448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10 allowed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🔔  Alert Thresholds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377440"/>
            <a:ext cx="502920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95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10%  (Recommended)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95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After 9th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880360"/>
            <a:ext cx="5029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98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8986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After 8th 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83280"/>
            <a:ext cx="502920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4015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01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After 5th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86200"/>
            <a:ext cx="5029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0448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90%  (Too sensitive)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904487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After 1st error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1A17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800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🔥  Burn Rate measures how fast you consume your budget.</a:t>
            </a:r>
            <a:br/>
            <a:r>
              <a:t>     A burn rate of 10x means you'll exhaust your error budget 10× faster than expected.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13 —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Application Logging — Two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📦  Docker awslogs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Docker intercepts stdout/stderr</a:t>
            </a:r>
            <a:br/>
            <a:r>
              <a:t>and sends plain text to CloudWatch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74720"/>
            <a:ext cx="4389120" cy="8229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B82F6"/>
                </a:solidFill>
                <a:latin typeface="Consolas"/>
              </a:defRPr>
            </a:pPr>
            <a:r>
              <a:t>logging: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  driver: awslogs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6B6D4"/>
                </a:solidFill>
                <a:latin typeface="Consolas"/>
              </a:defRPr>
            </a:pPr>
            <a:r>
              <a:t>  awslogs-region: us-east-1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 Bulletproof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✗ No trace correlation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12064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🔗  OpenTelemetry OTLP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OTel agent captures logs and auto-attaches</a:t>
            </a:r>
            <a:br/>
            <a:r>
              <a:t>Trace ID + Span ID for correlation.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474720"/>
            <a:ext cx="4389120" cy="8229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5204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OTEL_LOGS_EXPORTER: otlp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B82F6"/>
                </a:solidFill>
                <a:latin typeface="Consolas"/>
              </a:defRPr>
            </a:pPr>
            <a:r>
              <a:t>OTEL_EXPORTER_OTLP_LOGS_ENDPOINT: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6B6D4"/>
                </a:solidFill>
                <a:latin typeface="Consolas"/>
              </a:defRPr>
            </a:pPr>
            <a:r>
              <a:t>  http://cw-agent:4316/v1/logs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89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 Trace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✗ Needs OTel 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0A1A1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✨  Killer Feature: Click a latency spike → see correlated traces → click a trace → see the exact console.log()</a:t>
            </a:r>
            <a:br/>
            <a:r>
              <a:t>     messages for that specific request. From "something is slow" to root cause in 4 clicks.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14 — SYNTHETICS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Calibri"/>
              </a:defRPr>
            </a:pPr>
            <a:r>
              <a:t>Synthetics Canaries — Proactive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Automated scripts that ping your APIs every 5 minutes, 24/7 — catching outages before real users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6B6D4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Runs on cron schedule</a:t>
            </a:r>
            <a:br/>
            <a:r>
              <a:t>even at 3 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46888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B5CF6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Validates response codes,</a:t>
            </a:r>
            <a:br/>
            <a:r>
              <a:t>body, and response times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46888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F4444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ON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CloudWatch fires alarm</a:t>
            </a:r>
            <a:br/>
            <a:r>
              <a:t>immediately on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212080"/>
            <a:ext cx="1645920" cy="54864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230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Lambda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212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212080"/>
            <a:ext cx="1645920" cy="54864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5230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Employee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12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5212080"/>
            <a:ext cx="1645920" cy="54864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230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212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5212080"/>
            <a:ext cx="1645920" cy="54864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5230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212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5212080"/>
            <a:ext cx="1645920" cy="548640"/>
          </a:xfrm>
          <a:prstGeom prst="roundRect">
            <a:avLst/>
          </a:prstGeom>
          <a:solidFill>
            <a:srgbClr val="151F38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5230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Calibri"/>
              </a:defRPr>
            </a:pPr>
            <a:r>
              <a:t>Notify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15 — REAL USER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Calibri"/>
              </a:defRPr>
            </a:pPr>
            <a:r>
              <a:t>CloudWatch RUM — Frontend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JavaScript snippet in your frontend that captures real user behavior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🖥️  Page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TTFB, LCP, FCP, INP, CLS</a:t>
            </a:r>
            <a:br/>
            <a:r>
              <a:t>All Google Core Web Vitals</a:t>
            </a:r>
            <a:br/>
            <a:r>
              <a:t>captured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46888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🐛  JS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Captures runtime errors like</a:t>
            </a:r>
            <a:br/>
            <a:r>
              <a:t>TypeError: Cannot read</a:t>
            </a:r>
            <a:br/>
            <a:r>
              <a:t>property 'map' of undefined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6888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🌍  Session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Browser, OS, Device type,</a:t>
            </a:r>
            <a:br/>
            <a:r>
              <a:t>Country, Region — full</a:t>
            </a:r>
            <a:br/>
            <a:r>
              <a:t>user demographics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🔗  RUM ↔ Backend Correlation: RUM injects 'traceparent' into browser fetch() calls — linking browser sessions</a:t>
            </a:r>
            <a:br/>
            <a:r>
              <a:t>     to backend X-Ray traces. See: "User in Mumbai on Chrome had a 5s load because a SQL query returned 50K rows."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16 —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Calibri"/>
              </a:defRPr>
            </a:pPr>
            <a:r>
              <a:t>Synthetics Canaries vs CloudWatch 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50292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482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SYNTHETICS CANARY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482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CLOUDWATCH 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69848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Traffic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Synthetic (automated Lambda)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 humans using browsers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When It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24/7 on a schedule, even at 3 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Only when real users visit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1069848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"Is the site up?"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"Is the site fast for users in India?"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Captures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Availability, response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Web Vitals, JS errors, sessions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Device Info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N/A (runs in Lambda)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Chrome/Safari, Windows/Mac, Mobile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A17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⚠️  RUM Limitation: Only captures data from real browser interactions. Tools like curl and load generators do NOT generate RUM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17 —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Calibri"/>
              </a:defRPr>
            </a:pPr>
            <a:r>
              <a:t>Key Environment Variables — Cheat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50292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0482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482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69848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24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OTEL_RESOURCE_ATTRIBUTES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Service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service.name=my-svc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27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OTEL_TRACES_SAMPLER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Sampling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always_on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1069848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30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OTEL_PROPAGATORS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30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Context 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630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xray,tracecontext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3308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OTEL_EXPORTER_OTLP_TRACES_ENDPOINT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13308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Where to send traces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13308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:4316/v1/traces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17720"/>
            <a:ext cx="1069848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36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OTEL_AWS_APPLICATION_SIGNALS_ENABLED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636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Enable APM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636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true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3892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OTEL_LOGS_EXPORTER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1389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Log export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1389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otlp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23560"/>
            <a:ext cx="10698480" cy="457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41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OTEL_METRICS_EXPORTER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6418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Metrics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6418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none (handled by AppSignals)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18 —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Calibri"/>
              </a:defRPr>
            </a:pPr>
            <a:r>
              <a:t>Common Gotchas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50292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482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482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69848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Map shows no connecting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Service Discovery not enabled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Click "Enable Discovery"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Error spike but 0 traces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Trace sampling too low (1%)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Set always_on sampler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1069848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Logs tab is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 console.log() in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Add logging to routes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RUM User Journey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Only curl/load generators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Browse in real browser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502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Logs going to wrong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awslogs-region mismatch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Match all regions to us-east-1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4924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4xx errors not shown as faults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94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OTel only flags 5xx as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394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Query X-Ray Traces directly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6060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B82F6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OpenTelemetry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is the open standard.</a:t>
            </a:r>
            <a:br/>
            <a:r>
              <a:t>Instrument once, send anywhere.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743200"/>
            <a:ext cx="26060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8B5CF6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Application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is the visualization engine.</a:t>
            </a:r>
            <a:br/>
            <a:r>
              <a:t>SLOs, maps, and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43200"/>
            <a:ext cx="26060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6B6D4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Shift 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From reactive debugging</a:t>
            </a:r>
            <a:br/>
            <a:r>
              <a:t>to proactive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743200"/>
            <a:ext cx="26060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0B981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Zero Code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Auto-instrumentation means</a:t>
            </a:r>
            <a:br/>
            <a:r>
              <a:t>full APM without rewriting.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4748B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